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P1 中期汇报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F6B7A"/>
                </a:solidFill>
              </a:rPr>
              <a:t>PIU 多系统算法对比:Spark 应该放在训练阶段,还是特征/ETL 阶段?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2468880" cy="100584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4C78A8"/>
                </a:solidFill>
              </a:defRPr>
            </a:pPr>
            <a:r>
              <a:t>3 systems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sklearn / Spark / PyTorch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240280"/>
            <a:ext cx="2468880" cy="100584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54A24B"/>
                </a:solidFill>
              </a:defRPr>
            </a:pPr>
            <a:r>
              <a:t>2 algos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LR + MLP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240280"/>
            <a:ext cx="2468880" cy="100584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F58518"/>
                </a:solidFill>
              </a:defRPr>
            </a:pPr>
            <a:r>
              <a:t>315M rows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actigraphy feature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2240280"/>
            <a:ext cx="2468880" cy="100584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E45756"/>
                </a:solidFill>
              </a:defRPr>
            </a:pPr>
            <a:r>
              <a:t>A5/A6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coverage + parallelism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86200"/>
            <a:ext cx="10744200" cy="1005840"/>
          </a:xfrm>
          <a:prstGeom prst="roundRect">
            <a:avLst/>
          </a:prstGeom>
          <a:solidFill>
            <a:srgbClr val="FFF8EF"/>
          </a:solidFill>
          <a:ln w="1524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>
              <a:defRPr sz="1500" b="1">
                <a:solidFill>
                  <a:srgbClr val="17202A"/>
                </a:solidFill>
              </a:defRPr>
            </a:pPr>
            <a:r>
              <a:t>核心结论:Spark 训练/单样本推理阶段不划算;特征/ETL 阶段也必须匹配正确算法和并行度。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1. 研究问题与公平协议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5F6B7A"/>
                </a:solidFill>
              </a:rPr>
              <a:t>同一任务,同一 fold,同一预处理;比较系统质量与系统成本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任务:PIU 四分类,预测 sii=0/1/2/3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系统:sklearn / Spark MLlib / PyTorch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算法:Logistic Regression + MLP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指标:Macro-F1 主指标,QWK / Balanced Accuracy / 系统指标为辅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反泄漏:PCIAT-* 排除;imputer/scaler 只在训练 fold fit</a:t>
            </a:r>
          </a:p>
        </p:txBody>
      </p:sp>
      <p:pic>
        <p:nvPicPr>
          <p:cNvPr id="6" name="Picture 5" descr="p1_feature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29397"/>
            <a:ext cx="5577840" cy="22334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2. 数据事实:为什么 Spark 有机会,也为什么 v2 难提升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331720" cy="91440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4C78A8"/>
                </a:solidFill>
              </a:defRPr>
            </a:pPr>
            <a:r>
              <a:t>3960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train feature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234440"/>
            <a:ext cx="2331720" cy="91440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54A24B"/>
                </a:solidFill>
              </a:defRPr>
            </a:pPr>
            <a:r>
              <a:t>2736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labeled CV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234440"/>
            <a:ext cx="2331720" cy="91440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F58518"/>
                </a:solidFill>
              </a:defRPr>
            </a:pPr>
            <a:r>
              <a:t>996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actigraphy participants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234440"/>
            <a:ext cx="2331720" cy="91440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E45756"/>
                </a:solidFill>
              </a:defRPr>
            </a:pPr>
            <a:r>
              <a:t>36.4%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labeled act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actigraphy 原始时序约 3.15 亿行,特征阶段确实有大数据量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但有标签样本中只有 996/2736 有真实 actigraphy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fold 4 的 actigraphy 子集没有 class 3 验证样本</a:t>
            </a:r>
          </a:p>
        </p:txBody>
      </p:sp>
      <p:pic>
        <p:nvPicPr>
          <p:cNvPr id="9" name="Picture 8" descr="p1_a5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883074"/>
            <a:ext cx="5623560" cy="21891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3. Table 1:特征阶段 pandas vs Spark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2377440" cy="96012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4C78A8"/>
                </a:solidFill>
              </a:defRPr>
            </a:pPr>
            <a:r>
              <a:t>38.13s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pandas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280160"/>
            <a:ext cx="2377440" cy="96012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4C78A8"/>
                </a:solidFill>
              </a:defRPr>
            </a:pPr>
            <a:r>
              <a:t>0.65GB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pandas RSS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280160"/>
            <a:ext cx="2377440" cy="96012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E45756"/>
                </a:solidFill>
              </a:defRPr>
            </a:pPr>
            <a:r>
              <a:t>114.01s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Spark applyInPandas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280160"/>
            <a:ext cx="2377440" cy="96012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E45756"/>
                </a:solidFill>
              </a:defRPr>
            </a:pPr>
            <a:r>
              <a:t>13.25GB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Spark RSS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naive pandas 全量读取会 OOM;按 id 分区流式聚合后稳定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Spark 原生 exact percentile 路径 GC/OOM;改用 applyInPandas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CPU/Spark 产物 max_abs_diff=1.14e-13,等价性通过</a:t>
            </a:r>
          </a:p>
        </p:txBody>
      </p:sp>
      <p:pic>
        <p:nvPicPr>
          <p:cNvPr id="9" name="Picture 8" descr="p1_feature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96890"/>
            <a:ext cx="5669280" cy="227005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532120"/>
            <a:ext cx="10698480" cy="502920"/>
          </a:xfrm>
          <a:prstGeom prst="roundRect">
            <a:avLst/>
          </a:prstGeom>
          <a:solidFill>
            <a:srgbClr val="FFF8EF"/>
          </a:solidFill>
          <a:ln w="1524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>
              <a:defRPr sz="1500" b="1">
                <a:solidFill>
                  <a:srgbClr val="17202A"/>
                </a:solidFill>
              </a:defRPr>
            </a:pPr>
            <a:r>
              <a:t>结论:Spark 的合理位置在特征/ETL,但实现必须算法感知。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4. Table 2:模型质量没有因 feat_v2 稳定提升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table2_metri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25241"/>
            <a:ext cx="11064240" cy="3647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0749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550">
                <a:solidFill>
                  <a:srgbClr val="17202A"/>
                </a:solidFill>
              </a:defRPr>
            </a:pPr>
            <a:r>
              <a:t>LR 三系统 Macro-F1 在 v2/all 均略降;MLP 只有 Spark MLP 明显上升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550">
                <a:solidFill>
                  <a:srgbClr val="17202A"/>
                </a:solidFill>
              </a:defRPr>
            </a:pPr>
            <a:r>
              <a:t>v2/all 的主协议结论:actigraphy 特征没有转化为跨系统稳定收益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5. 系统成本:Spark 不适合小表格训练和单样本推理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system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2655"/>
            <a:ext cx="6766560" cy="2732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520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Spark LR v2 训练约 25.3s/fold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Spark 单样本推理约 156ms/job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sklearn/PyTorch 推理在几十到几百微秒量级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小表格在线推理阶段,Spark 调度成本压倒计算本身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5074920"/>
            <a:ext cx="3520440" cy="685800"/>
          </a:xfrm>
          <a:prstGeom prst="roundRect">
            <a:avLst/>
          </a:prstGeom>
          <a:solidFill>
            <a:srgbClr val="FFF8EF"/>
          </a:solidFill>
          <a:ln w="15240">
            <a:solidFill>
              <a:srgbClr val="E45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>
              <a:defRPr sz="1500" b="1">
                <a:solidFill>
                  <a:srgbClr val="17202A"/>
                </a:solidFill>
              </a:defRPr>
            </a:pPr>
            <a:r>
              <a:t>系统结论比模型分数更关键。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6. A5:覆盖率解释 feat_v2 为什么没有稳定收益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a5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91373"/>
            <a:ext cx="6446520" cy="25094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34440"/>
            <a:ext cx="4069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全体 feature 行覆盖:996/3960 = 25.2%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有标签 CV 样本覆盖:996/2736 = 36.4%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actigraphy 子集 fold 4 class 3 = 0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600">
                <a:solidFill>
                  <a:srgbClr val="17202A"/>
                </a:solidFill>
              </a:defRPr>
            </a:pPr>
            <a:r>
              <a:t>所以 v2/actigraphy 只能作补充,不能替代 Table 2 主表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7. A6:Spark 并行度不是越高越快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a6_spark_parallel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93064"/>
            <a:ext cx="5989320" cy="34432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325880"/>
            <a:ext cx="32004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4C78A8"/>
                </a:solidFill>
              </a:defRPr>
            </a:pPr>
            <a:r>
              <a:t>local[4]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fastest setting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514600"/>
            <a:ext cx="32004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F58518"/>
                </a:solidFill>
              </a:defRPr>
            </a:pPr>
            <a:r>
              <a:t>115.48s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wall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703320"/>
            <a:ext cx="32004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2200" b="1">
                <a:solidFill>
                  <a:srgbClr val="E45756"/>
                </a:solidFill>
              </a:defRPr>
            </a:pPr>
            <a:r>
              <a:t>12.42GB</a:t>
            </a:r>
          </a:p>
          <a:p>
            <a:pPr>
              <a:defRPr sz="1050">
                <a:solidFill>
                  <a:srgbClr val="5F6B7A"/>
                </a:solidFill>
              </a:defRPr>
            </a:pPr>
            <a:r>
              <a:t>peak RSS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5074920"/>
            <a:ext cx="4114800" cy="731520"/>
          </a:xfrm>
          <a:prstGeom prst="roundRect">
            <a:avLst/>
          </a:prstGeom>
          <a:solidFill>
            <a:srgbClr val="FFF8EF"/>
          </a:solidFill>
          <a:ln w="1524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>
              <a:defRPr sz="1500" b="1">
                <a:solidFill>
                  <a:srgbClr val="17202A"/>
                </a:solidFill>
              </a:defRPr>
            </a:pPr>
            <a:r>
              <a:t>瓶颈更像 shuffle/序列化/Python worker 调度,不是 CPU core 数不足。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8. 代表性混淆矩阵:类别 3 是指标不稳定来源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confusion_sklearn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38" y="1051560"/>
            <a:ext cx="8674443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0120" y="5806440"/>
            <a:ext cx="10149840" cy="502920"/>
          </a:xfrm>
          <a:prstGeom prst="roundRect">
            <a:avLst/>
          </a:prstGeom>
          <a:solidFill>
            <a:srgbClr val="FFF8EF"/>
          </a:solidFill>
          <a:ln w="15240">
            <a:solidFill>
              <a:srgbClr val="E45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>
              <a:defRPr sz="1500" b="1">
                <a:solidFill>
                  <a:srgbClr val="17202A"/>
                </a:solidFill>
              </a:defRPr>
            </a:pPr>
            <a:r>
              <a:t>class 3 极少,且常被预测为 class 2;Macro-F1 对这种尾类很敏感。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9. 汇报主线:Spark 价值在哪里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94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训练阶段:Spark 在小表格上慢,推理尤其不适合单样本在线场景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特征阶段:actigraphy 有真实大数据量,但 exact 聚合要算法感知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并行度:local[4] 快于 local[8]/local[20],必须实测拐点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质量:feat_v2 没有稳定提升,主要受覆盖率与类别稀疏限制</a:t>
            </a:r>
          </a:p>
        </p:txBody>
      </p:sp>
      <p:pic>
        <p:nvPicPr>
          <p:cNvPr id="5" name="Picture 4" descr="p1_feature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138598"/>
            <a:ext cx="5303520" cy="21236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2A"/>
                </a:solidFill>
              </a:rPr>
              <a:t>10. 结论与下一步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064240" cy="9144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515600" cy="822960"/>
          </a:xfrm>
          <a:prstGeom prst="roundRect">
            <a:avLst/>
          </a:prstGeom>
          <a:solidFill>
            <a:srgbClr val="FFF8EF"/>
          </a:solidFill>
          <a:ln w="1524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>
              <a:defRPr sz="1500" b="1">
                <a:solidFill>
                  <a:srgbClr val="17202A"/>
                </a:solidFill>
              </a:defRPr>
            </a:pPr>
            <a:r>
              <a:t>P1 核心结论已成立:系统选择不能只看模型分数,必须把训练/推理/特征工程成本放进同一条证据链。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5074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已完成:Table 1, Table 2, A5, A6,核心可视化,动画 HTML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可选补充:A1-A4 轻量消融作为附录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17202A"/>
                </a:solidFill>
              </a:defRPr>
            </a:pPr>
            <a:r>
              <a:t>下一阶段:P2 MLOps,模型注册/服务化/监控/双发布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2316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550">
                <a:solidFill>
                  <a:srgbClr val="5F6B7A"/>
                </a:solidFill>
              </a:defRPr>
            </a:pPr>
            <a:r>
              <a:t>交付物:00_docs/P1_MIDTERM_REPORT.md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550">
                <a:solidFill>
                  <a:srgbClr val="5F6B7A"/>
                </a:solidFill>
              </a:defRPr>
            </a:pPr>
            <a:r>
              <a:t>交付物:reports/p1_midterm_slides.pptx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550">
                <a:solidFill>
                  <a:srgbClr val="5F6B7A"/>
                </a:solidFill>
              </a:defRPr>
            </a:pPr>
            <a:r>
              <a:t>交付物:reports/p1_midterm_explainer.html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550">
                <a:solidFill>
                  <a:srgbClr val="5F6B7A"/>
                </a:solidFill>
              </a:defRPr>
            </a:pPr>
            <a:r>
              <a:t>交付物:reports/figures/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F6B7A"/>
                </a:solidFill>
              </a:rPr>
              <a:t>MLsystem P1 midterm | PIU multi-system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