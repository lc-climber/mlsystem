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0"/>
            <a:ext cx="1078992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92229"/>
                </a:solidFill>
              </a:rPr>
              <a:t>P2 MLOps Final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508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0">
                <a:solidFill>
                  <a:srgbClr val="5B6570"/>
                </a:solidFill>
              </a:rPr>
              <a:t>PIU risk classification: tracking, search, registry, serving package, and visual evidence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423160"/>
            <a:ext cx="2423160" cy="1078992"/>
          </a:xfrm>
          <a:prstGeom prst="roundRect">
            <a:avLst/>
          </a:prstGeom>
          <a:solidFill>
            <a:srgbClr val="2F6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587752"/>
            <a:ext cx="2148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Baseline QWK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907791"/>
            <a:ext cx="2148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0.3651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2423160"/>
            <a:ext cx="2423160" cy="1078992"/>
          </a:xfrm>
          <a:prstGeom prst="roundRect">
            <a:avLst/>
          </a:prstGeom>
          <a:solidFill>
            <a:srgbClr val="4F6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40" y="2587752"/>
            <a:ext cx="2148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Champion QWK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2907791"/>
            <a:ext cx="2148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0.3672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2423160"/>
            <a:ext cx="2423160" cy="1078992"/>
          </a:xfrm>
          <a:prstGeom prst="roundRect">
            <a:avLst/>
          </a:prstGeom>
          <a:solidFill>
            <a:srgbClr val="C45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0" y="2587752"/>
            <a:ext cx="2148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Formal Trials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2907791"/>
            <a:ext cx="2148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0" y="2423160"/>
            <a:ext cx="2423160" cy="1078992"/>
          </a:xfrm>
          <a:prstGeom prst="roundRect">
            <a:avLst/>
          </a:prstGeom>
          <a:solidFill>
            <a:srgbClr val="2F6F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23960" y="2587752"/>
            <a:ext cx="2148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FFFFFF"/>
                </a:solidFill>
              </a:rPr>
              <a:t>Registry Aliases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23960" y="2907791"/>
            <a:ext cx="2148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93192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92229"/>
                </a:solidFill>
              </a:defRPr>
            </a:pPr>
            <a:r>
              <a:t>Champion URI: models:/piu-risk@champion</a:t>
            </a:r>
          </a:p>
          <a:p>
            <a:pPr>
              <a:spcAft>
                <a:spcPts val="800"/>
              </a:spcAft>
              <a:defRPr sz="1800">
                <a:solidFill>
                  <a:srgbClr val="192229"/>
                </a:solidFill>
              </a:defRPr>
            </a:pPr>
            <a:r>
              <a:t>Formal study: p2-formal-mlops-20260612</a:t>
            </a:r>
          </a:p>
          <a:p>
            <a:pPr>
              <a:spcAft>
                <a:spcPts val="800"/>
              </a:spcAft>
              <a:defRPr sz="1800">
                <a:solidFill>
                  <a:srgbClr val="192229"/>
                </a:solidFill>
              </a:defRPr>
            </a:pPr>
            <a:r>
              <a:t>Main claim: complete MLOps loop; model lift is small and reported honestly.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9728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92229"/>
                </a:solidFill>
              </a:rPr>
              <a:t>Pipeline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13232"/>
            <a:ext cx="106070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B6570"/>
                </a:solidFill>
              </a:rPr>
              <a:t>From data split to MLflow registry and API-compatible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11064240" cy="9144"/>
          </a:xfrm>
          <a:prstGeom prst="rect">
            <a:avLst/>
          </a:prstGeom>
          <a:solidFill>
            <a:srgbClr val="DA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92229"/>
                </a:solidFill>
              </a:defRPr>
            </a:pPr>
            <a:r>
              <a:t>Canonical 5-fold split and feature tables are reused from P1.</a:t>
            </a:r>
          </a:p>
          <a:p>
            <a:pPr>
              <a:spcAft>
                <a:spcPts val="800"/>
              </a:spcAft>
              <a:defRPr sz="1700">
                <a:solidFill>
                  <a:srgbClr val="192229"/>
                </a:solidFill>
              </a:defRPr>
            </a:pPr>
            <a:r>
              <a:t>Optuna explores model family, feature version, and hyperparameters.</a:t>
            </a:r>
          </a:p>
          <a:p>
            <a:pPr>
              <a:spcAft>
                <a:spcPts val="800"/>
              </a:spcAft>
              <a:defRPr sz="1700">
                <a:solidFill>
                  <a:srgbClr val="192229"/>
                </a:solidFill>
              </a:defRPr>
            </a:pPr>
            <a:r>
              <a:t>Each formal trial logs metrics to MLflow; final model is registered.</a:t>
            </a:r>
          </a:p>
          <a:p>
            <a:pPr>
              <a:spcAft>
                <a:spcPts val="800"/>
              </a:spcAft>
              <a:defRPr sz="1700">
                <a:solidFill>
                  <a:srgbClr val="192229"/>
                </a:solidFill>
              </a:defRPr>
            </a:pPr>
            <a:r>
              <a:t>baseline/candidate/champion aliases point to auditable model versions.</a:t>
            </a:r>
          </a:p>
          <a:p>
            <a:pPr>
              <a:spcAft>
                <a:spcPts val="800"/>
              </a:spcAft>
              <a:defRPr sz="1700">
                <a:solidFill>
                  <a:srgbClr val="192229"/>
                </a:solidFill>
              </a:defRPr>
            </a:pPr>
            <a:r>
              <a:t>Reports and figures are regenerated from local SQLite stores.</a:t>
            </a:r>
          </a:p>
        </p:txBody>
      </p:sp>
      <p:pic>
        <p:nvPicPr>
          <p:cNvPr id="6" name="Picture 5" descr="p2_mlflow_run_stat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417320"/>
            <a:ext cx="5120640" cy="35661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9728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92229"/>
                </a:solidFill>
              </a:rPr>
              <a:t>Model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13232"/>
            <a:ext cx="106070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B6570"/>
                </a:solidFill>
              </a:rPr>
              <a:t>Baseline vs selected champion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11064240" cy="9144"/>
          </a:xfrm>
          <a:prstGeom prst="rect">
            <a:avLst/>
          </a:prstGeom>
          <a:solidFill>
            <a:srgbClr val="DA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2_metric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6400800" cy="3794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06640" y="1417320"/>
            <a:ext cx="4023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92229"/>
                </a:solidFill>
              </a:defRPr>
            </a:pPr>
            <a:r>
              <a:t>Baseline: Logistic Regression on feat_v1.</a:t>
            </a:r>
          </a:p>
          <a:p>
            <a:pPr>
              <a:spcAft>
                <a:spcPts val="800"/>
              </a:spcAft>
              <a:defRPr sz="1600">
                <a:solidFill>
                  <a:srgbClr val="192229"/>
                </a:solidFill>
              </a:defRPr>
            </a:pPr>
            <a:r>
              <a:t>Champion: Optuna-tuned Logistic Regression on feat_v1.</a:t>
            </a:r>
          </a:p>
          <a:p>
            <a:pPr>
              <a:spcAft>
                <a:spcPts val="800"/>
              </a:spcAft>
              <a:defRPr sz="1600">
                <a:solidFill>
                  <a:srgbClr val="192229"/>
                </a:solidFill>
              </a:defRPr>
            </a:pPr>
            <a:r>
              <a:t>QWK improves from 0.3651 to 0.3672.</a:t>
            </a:r>
          </a:p>
          <a:p>
            <a:pPr>
              <a:spcAft>
                <a:spcPts val="800"/>
              </a:spcAft>
              <a:defRPr sz="1600">
                <a:solidFill>
                  <a:srgbClr val="192229"/>
                </a:solidFill>
              </a:defRPr>
            </a:pPr>
            <a:r>
              <a:t>The gain is modest; the MLOps workflow is the main deliverable.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9728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92229"/>
                </a:solidFill>
              </a:rPr>
              <a:t>Optuna Search Trace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13232"/>
            <a:ext cx="106070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B6570"/>
                </a:solidFill>
              </a:rPr>
              <a:t>Trial objective and best-so-far curve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11064240" cy="9144"/>
          </a:xfrm>
          <a:prstGeom prst="rect">
            <a:avLst/>
          </a:prstGeom>
          <a:solidFill>
            <a:srgbClr val="DA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2_optuna_tr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6583680" cy="39776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52360" y="1371600"/>
            <a:ext cx="4023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92229"/>
                </a:solidFill>
              </a:defRPr>
            </a:pPr>
            <a:r>
              <a:t>10 local formal trials were run.</a:t>
            </a:r>
          </a:p>
          <a:p>
            <a:pPr>
              <a:spcAft>
                <a:spcPts val="800"/>
              </a:spcAft>
              <a:defRPr sz="1600">
                <a:solidFill>
                  <a:srgbClr val="192229"/>
                </a:solidFill>
              </a:defRPr>
            </a:pPr>
            <a:r>
              <a:t>Best trial: logreg_v1, C=1.1159.</a:t>
            </a:r>
          </a:p>
          <a:p>
            <a:pPr>
              <a:spcAft>
                <a:spcPts val="800"/>
              </a:spcAft>
              <a:defRPr sz="1600">
                <a:solidFill>
                  <a:srgbClr val="192229"/>
                </a:solidFill>
              </a:defRPr>
            </a:pPr>
            <a:r>
              <a:t>MLP trials were fast but underperformed LR.</a:t>
            </a:r>
          </a:p>
          <a:p>
            <a:pPr>
              <a:spcAft>
                <a:spcPts val="800"/>
              </a:spcAft>
              <a:defRPr sz="1600">
                <a:solidFill>
                  <a:srgbClr val="192229"/>
                </a:solidFill>
              </a:defRPr>
            </a:pPr>
            <a:r>
              <a:t>feat_v2 did not improve this final champion.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9728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92229"/>
                </a:solidFill>
              </a:rPr>
              <a:t>Champion Error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13232"/>
            <a:ext cx="106070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B6570"/>
                </a:solidFill>
              </a:rPr>
              <a:t>5-fold CV confusion matrix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11064240" cy="9144"/>
          </a:xfrm>
          <a:prstGeom prst="rect">
            <a:avLst/>
          </a:prstGeom>
          <a:solidFill>
            <a:srgbClr val="DA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2_champion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5120640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141732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92229"/>
                </a:solidFill>
              </a:defRPr>
            </a:pPr>
            <a:r>
              <a:t>The class imbalance remains visible.</a:t>
            </a:r>
          </a:p>
          <a:p>
            <a:pPr>
              <a:spcAft>
                <a:spcPts val="800"/>
              </a:spcAft>
              <a:defRPr sz="1600">
                <a:solidFill>
                  <a:srgbClr val="192229"/>
                </a:solidFill>
              </a:defRPr>
            </a:pPr>
            <a:r>
              <a:t>Most errors are between adjacent severity levels.</a:t>
            </a:r>
          </a:p>
          <a:p>
            <a:pPr>
              <a:spcAft>
                <a:spcPts val="800"/>
              </a:spcAft>
              <a:defRPr sz="1600">
                <a:solidFill>
                  <a:srgbClr val="192229"/>
                </a:solidFill>
              </a:defRPr>
            </a:pPr>
            <a:r>
              <a:t>This supports reporting QWK as the primary metric.</a:t>
            </a:r>
          </a:p>
          <a:p>
            <a:pPr>
              <a:spcAft>
                <a:spcPts val="800"/>
              </a:spcAft>
              <a:defRPr sz="1600">
                <a:solidFill>
                  <a:srgbClr val="192229"/>
                </a:solidFill>
              </a:defRPr>
            </a:pPr>
            <a:r>
              <a:t>Further model work should target minority classes and calibration.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9728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92229"/>
                </a:solidFill>
              </a:rPr>
              <a:t>Deliverables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1207" y="713232"/>
            <a:ext cx="106070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B6570"/>
                </a:solidFill>
              </a:rPr>
              <a:t>What is ready for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11064240" cy="9144"/>
          </a:xfrm>
          <a:prstGeom prst="rect">
            <a:avLst/>
          </a:prstGeom>
          <a:solidFill>
            <a:srgbClr val="DAE1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789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92229"/>
                </a:solidFill>
              </a:defRPr>
            </a:pPr>
            <a:r>
              <a:t>reports/P2/p2_final_report.md and p2_summary_report.md</a:t>
            </a:r>
          </a:p>
          <a:p>
            <a:pPr>
              <a:spcAft>
                <a:spcPts val="800"/>
              </a:spcAft>
              <a:defRPr sz="1800">
                <a:solidFill>
                  <a:srgbClr val="192229"/>
                </a:solidFill>
              </a:defRPr>
            </a:pPr>
            <a:r>
              <a:t>reports/P2/figures/*.png and *.svg</a:t>
            </a:r>
          </a:p>
          <a:p>
            <a:pPr>
              <a:spcAft>
                <a:spcPts val="800"/>
              </a:spcAft>
              <a:defRPr sz="1800">
                <a:solidFill>
                  <a:srgbClr val="192229"/>
                </a:solidFill>
              </a:defRPr>
            </a:pPr>
            <a:r>
              <a:t>reports/P2/p2_model_comparison.csv and p2_formal_optuna_trials.csv</a:t>
            </a:r>
          </a:p>
          <a:p>
            <a:pPr>
              <a:spcAft>
                <a:spcPts val="800"/>
              </a:spcAft>
              <a:defRPr sz="1800">
                <a:solidFill>
                  <a:srgbClr val="192229"/>
                </a:solidFill>
              </a:defRPr>
            </a:pPr>
            <a:r>
              <a:t>MLflow model versions 4/5/6 with baseline/candidate/champion aliases</a:t>
            </a:r>
          </a:p>
          <a:p>
            <a:pPr>
              <a:spcAft>
                <a:spcPts val="800"/>
              </a:spcAft>
              <a:defRPr sz="1800">
                <a:solidFill>
                  <a:srgbClr val="192229"/>
                </a:solidFill>
              </a:defRPr>
            </a:pPr>
            <a:r>
              <a:t>Champion can be loaded through models:/piu-risk@champion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